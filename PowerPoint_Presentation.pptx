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8288000" cy="10287000"/>
  <p:notesSz cx="6858000" cy="9144000"/>
  <p:embeddedFontLst>
    <p:embeddedFont>
      <p:font typeface="Times New Roman Bold" panose="02020803070505020304" pitchFamily="18" charset="0"/>
      <p:regular r:id="rId15"/>
      <p:bold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5010724" y="5185861"/>
            <a:ext cx="1278000" cy="154800"/>
          </a:xfrm>
          <a:prstGeom prst="line">
            <a:avLst/>
          </a:prstGeom>
          <a:ln w="57150" cap="rnd">
            <a:solidFill>
              <a:srgbClr val="B3A77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AutoShape 3"/>
          <p:cNvSpPr/>
          <p:nvPr/>
        </p:nvSpPr>
        <p:spPr>
          <a:xfrm>
            <a:off x="1999440" y="5143500"/>
            <a:ext cx="1316818" cy="197161"/>
          </a:xfrm>
          <a:prstGeom prst="line">
            <a:avLst/>
          </a:prstGeom>
          <a:ln w="57150" cap="rnd">
            <a:solidFill>
              <a:srgbClr val="B3A77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/>
          <p:cNvSpPr/>
          <p:nvPr/>
        </p:nvSpPr>
        <p:spPr>
          <a:xfrm flipH="1" flipV="1">
            <a:off x="2009827" y="2876429"/>
            <a:ext cx="14349293" cy="0"/>
          </a:xfrm>
          <a:prstGeom prst="line">
            <a:avLst/>
          </a:prstGeom>
          <a:ln w="57150" cap="rnd">
            <a:solidFill>
              <a:srgbClr val="4DB6AC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AutoShape 5"/>
          <p:cNvSpPr/>
          <p:nvPr/>
        </p:nvSpPr>
        <p:spPr>
          <a:xfrm flipH="1">
            <a:off x="1999440" y="3152977"/>
            <a:ext cx="14292720" cy="0"/>
          </a:xfrm>
          <a:prstGeom prst="line">
            <a:avLst/>
          </a:prstGeom>
          <a:ln w="9525" cap="rnd">
            <a:solidFill>
              <a:srgbClr val="4DB6AC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AutoShape 6"/>
          <p:cNvSpPr/>
          <p:nvPr/>
        </p:nvSpPr>
        <p:spPr>
          <a:xfrm flipV="1">
            <a:off x="1932480" y="8320320"/>
            <a:ext cx="14426640" cy="0"/>
          </a:xfrm>
          <a:prstGeom prst="line">
            <a:avLst/>
          </a:prstGeom>
          <a:ln w="57150" cap="rnd">
            <a:solidFill>
              <a:srgbClr val="4DB6AC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AutoShape 7"/>
          <p:cNvSpPr/>
          <p:nvPr/>
        </p:nvSpPr>
        <p:spPr>
          <a:xfrm rot="5022">
            <a:off x="2000152" y="7937640"/>
            <a:ext cx="14292015" cy="0"/>
          </a:xfrm>
          <a:prstGeom prst="line">
            <a:avLst/>
          </a:prstGeom>
          <a:ln w="9525" cap="rnd">
            <a:solidFill>
              <a:srgbClr val="4DB6AC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TextBox 8"/>
          <p:cNvSpPr txBox="1"/>
          <p:nvPr/>
        </p:nvSpPr>
        <p:spPr>
          <a:xfrm>
            <a:off x="3818410" y="3187309"/>
            <a:ext cx="10642912" cy="64630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7"/>
              </a:lnSpc>
            </a:pPr>
            <a:endParaRPr/>
          </a:p>
          <a:p>
            <a:pPr algn="ctr">
              <a:lnSpc>
                <a:spcPts val="4627"/>
              </a:lnSpc>
            </a:pPr>
            <a:r>
              <a:rPr lang="en-US" sz="3856">
                <a:solidFill>
                  <a:srgbClr val="695D4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Members:</a:t>
            </a:r>
          </a:p>
          <a:p>
            <a:pPr algn="ctr">
              <a:lnSpc>
                <a:spcPts val="4627"/>
              </a:lnSpc>
            </a:pPr>
            <a:r>
              <a:rPr lang="en-US" sz="3856">
                <a:solidFill>
                  <a:srgbClr val="695D4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Anushka Pote (05)</a:t>
            </a:r>
          </a:p>
          <a:p>
            <a:pPr algn="ctr">
              <a:lnSpc>
                <a:spcPts val="4627"/>
              </a:lnSpc>
            </a:pPr>
            <a:r>
              <a:rPr lang="en-US" sz="3856">
                <a:solidFill>
                  <a:srgbClr val="695D4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Aditya Suryawanshi (12)</a:t>
            </a:r>
          </a:p>
          <a:p>
            <a:pPr algn="ctr">
              <a:lnSpc>
                <a:spcPts val="4627"/>
              </a:lnSpc>
            </a:pPr>
            <a:r>
              <a:rPr lang="en-US" sz="3856">
                <a:solidFill>
                  <a:srgbClr val="695D4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Advait Jog (13)</a:t>
            </a:r>
          </a:p>
          <a:p>
            <a:pPr algn="ctr">
              <a:lnSpc>
                <a:spcPts val="4627"/>
              </a:lnSpc>
            </a:pPr>
            <a:r>
              <a:rPr lang="en-US" sz="3856" spc="-1">
                <a:solidFill>
                  <a:srgbClr val="695D4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Anshu Jamare (17)</a:t>
            </a:r>
          </a:p>
          <a:p>
            <a:pPr algn="ctr">
              <a:lnSpc>
                <a:spcPts val="4627"/>
              </a:lnSpc>
            </a:pPr>
            <a:endParaRPr lang="en-US" sz="3856" spc="-1">
              <a:solidFill>
                <a:srgbClr val="695D4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>
              <a:lnSpc>
                <a:spcPts val="4627"/>
              </a:lnSpc>
            </a:pPr>
            <a:r>
              <a:rPr lang="en-US" sz="3856">
                <a:solidFill>
                  <a:srgbClr val="695D4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Guide: Dr. P.R. Selokar </a:t>
            </a:r>
          </a:p>
          <a:p>
            <a:pPr algn="ctr">
              <a:lnSpc>
                <a:spcPts val="4627"/>
              </a:lnSpc>
            </a:pPr>
            <a:endParaRPr lang="en-US" sz="3856">
              <a:solidFill>
                <a:srgbClr val="695D4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>
              <a:lnSpc>
                <a:spcPts val="4627"/>
              </a:lnSpc>
            </a:pPr>
            <a:r>
              <a:rPr lang="en-US" sz="3856">
                <a:solidFill>
                  <a:srgbClr val="695D4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Electronics and Communication Engineering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999440" y="1028700"/>
            <a:ext cx="15021467" cy="2848133"/>
            <a:chOff x="0" y="0"/>
            <a:chExt cx="19028161" cy="360781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9028161" cy="3607819"/>
            </a:xfrm>
            <a:custGeom>
              <a:avLst/>
              <a:gdLst/>
              <a:ahLst/>
              <a:cxnLst/>
              <a:rect l="l" t="t" r="r" b="b"/>
              <a:pathLst>
                <a:path w="19028161" h="3607819">
                  <a:moveTo>
                    <a:pt x="0" y="0"/>
                  </a:moveTo>
                  <a:lnTo>
                    <a:pt x="19028161" y="0"/>
                  </a:lnTo>
                  <a:lnTo>
                    <a:pt x="19028161" y="3607819"/>
                  </a:lnTo>
                  <a:lnTo>
                    <a:pt x="0" y="360781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95250"/>
              <a:ext cx="19028161" cy="3703069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5639"/>
                </a:lnSpc>
              </a:pPr>
              <a:r>
                <a:rPr lang="en-US" sz="4699" b="1" spc="-1">
                  <a:solidFill>
                    <a:srgbClr val="99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Self-Recovering Network Infrastructure using Automated Router Diagnosis</a:t>
              </a:r>
            </a:p>
            <a:p>
              <a:pPr algn="ctr">
                <a:lnSpc>
                  <a:spcPts val="8640"/>
                </a:lnSpc>
              </a:pPr>
              <a:endParaRPr lang="en-US" sz="4699" b="1" spc="-1">
                <a:solidFill>
                  <a:srgbClr val="99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10090080"/>
            <a:ext cx="18288000" cy="197280"/>
            <a:chOff x="0" y="0"/>
            <a:chExt cx="24384000" cy="2630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263017"/>
            </a:xfrm>
            <a:custGeom>
              <a:avLst/>
              <a:gdLst/>
              <a:ahLst/>
              <a:cxnLst/>
              <a:rect l="l" t="t" r="r" b="b"/>
              <a:pathLst>
                <a:path w="24384000" h="263017">
                  <a:moveTo>
                    <a:pt x="0" y="0"/>
                  </a:moveTo>
                  <a:lnTo>
                    <a:pt x="24384000" y="0"/>
                  </a:lnTo>
                  <a:lnTo>
                    <a:pt x="24384000" y="263017"/>
                  </a:lnTo>
                  <a:lnTo>
                    <a:pt x="0" y="263017"/>
                  </a:lnTo>
                  <a:close/>
                </a:path>
              </a:pathLst>
            </a:custGeom>
            <a:solidFill>
              <a:srgbClr val="4DB6AC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713520" y="837765"/>
            <a:ext cx="16860960" cy="1238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40"/>
              </a:lnSpc>
            </a:pPr>
            <a:r>
              <a:rPr lang="en-US" sz="7200" b="1" spc="-2">
                <a:solidFill>
                  <a:srgbClr val="EF6C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Introduction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2491770"/>
            <a:ext cx="16230600" cy="69662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77240" lvl="1" indent="-388620" algn="l">
              <a:lnSpc>
                <a:spcPts val="4967"/>
              </a:lnSpc>
              <a:buFont typeface="Arial"/>
              <a:buChar char="•"/>
            </a:pPr>
            <a:r>
              <a:rPr lang="en-US" sz="3600" spc="-2" dirty="0">
                <a:solidFill>
                  <a:srgbClr val="695D4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Network downtime causes productivity loss in offices, IoT setups, and remote monitoring systems.</a:t>
            </a:r>
          </a:p>
          <a:p>
            <a:pPr algn="l">
              <a:lnSpc>
                <a:spcPts val="4967"/>
              </a:lnSpc>
            </a:pPr>
            <a:endParaRPr lang="en-US" sz="3600" spc="-2" dirty="0">
              <a:solidFill>
                <a:srgbClr val="695D4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77240" lvl="1" indent="-388620" algn="l">
              <a:lnSpc>
                <a:spcPts val="4967"/>
              </a:lnSpc>
              <a:buFont typeface="Arial"/>
              <a:buChar char="•"/>
            </a:pPr>
            <a:r>
              <a:rPr lang="en-US" sz="3600" spc="-2" dirty="0">
                <a:solidFill>
                  <a:srgbClr val="695D4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Manual intervention for router restart increases recovery time.</a:t>
            </a:r>
          </a:p>
          <a:p>
            <a:pPr algn="l">
              <a:lnSpc>
                <a:spcPts val="4967"/>
              </a:lnSpc>
            </a:pPr>
            <a:endParaRPr lang="en-US" sz="3600" spc="-2" dirty="0">
              <a:solidFill>
                <a:srgbClr val="695D4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77240" lvl="1" indent="-388620" algn="l">
              <a:lnSpc>
                <a:spcPts val="4967"/>
              </a:lnSpc>
              <a:buFont typeface="Arial"/>
              <a:buChar char="•"/>
            </a:pPr>
            <a:r>
              <a:rPr lang="en-US" sz="3600" dirty="0">
                <a:solidFill>
                  <a:srgbClr val="695D4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Our system detects connectivity failures and automatically restarts the router using a microcontroller-controlled relay.</a:t>
            </a:r>
          </a:p>
          <a:p>
            <a:pPr algn="l">
              <a:lnSpc>
                <a:spcPts val="4967"/>
              </a:lnSpc>
            </a:pPr>
            <a:endParaRPr lang="en-US" sz="3600" dirty="0">
              <a:solidFill>
                <a:srgbClr val="695D4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77240" lvl="1" indent="-388620" algn="l">
              <a:lnSpc>
                <a:spcPts val="4967"/>
              </a:lnSpc>
              <a:buFont typeface="Arial"/>
              <a:buChar char="•"/>
            </a:pPr>
            <a:r>
              <a:rPr lang="en-US" sz="3600" dirty="0">
                <a:solidFill>
                  <a:srgbClr val="695D4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Uses Raspberry Pi Pico (control) + ESP32 (monitoring) for reliability and low cost.</a:t>
            </a:r>
          </a:p>
          <a:p>
            <a:pPr algn="l">
              <a:lnSpc>
                <a:spcPts val="4967"/>
              </a:lnSpc>
            </a:pPr>
            <a:endParaRPr lang="en-US" sz="3600" dirty="0">
              <a:solidFill>
                <a:srgbClr val="695D4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4967"/>
              </a:lnSpc>
            </a:pPr>
            <a:endParaRPr lang="en-US" sz="3600" dirty="0">
              <a:solidFill>
                <a:srgbClr val="695D4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10090080"/>
            <a:ext cx="18288000" cy="197280"/>
            <a:chOff x="0" y="0"/>
            <a:chExt cx="24384000" cy="2630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263017"/>
            </a:xfrm>
            <a:custGeom>
              <a:avLst/>
              <a:gdLst/>
              <a:ahLst/>
              <a:cxnLst/>
              <a:rect l="l" t="t" r="r" b="b"/>
              <a:pathLst>
                <a:path w="24384000" h="263017">
                  <a:moveTo>
                    <a:pt x="0" y="0"/>
                  </a:moveTo>
                  <a:lnTo>
                    <a:pt x="24384000" y="0"/>
                  </a:lnTo>
                  <a:lnTo>
                    <a:pt x="24384000" y="263017"/>
                  </a:lnTo>
                  <a:lnTo>
                    <a:pt x="0" y="263017"/>
                  </a:lnTo>
                  <a:close/>
                </a:path>
              </a:pathLst>
            </a:custGeom>
            <a:solidFill>
              <a:srgbClr val="4DB6AC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713520" y="837765"/>
            <a:ext cx="16860960" cy="1238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40"/>
              </a:lnSpc>
            </a:pPr>
            <a:r>
              <a:rPr lang="en-US" sz="7200" b="1" spc="-2">
                <a:solidFill>
                  <a:srgbClr val="EF6C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Literature Survey</a:t>
            </a:r>
          </a:p>
        </p:txBody>
      </p: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713520" y="2474072"/>
          <a:ext cx="16860960" cy="7396986"/>
        </p:xfrm>
        <a:graphic>
          <a:graphicData uri="http://schemas.openxmlformats.org/drawingml/2006/table">
            <a:tbl>
              <a:tblPr/>
              <a:tblGrid>
                <a:gridCol w="14021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015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01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6721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420157">
                <a:tc>
                  <a:txBody>
                    <a:bodyPr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 spc="-1">
                          <a:solidFill>
                            <a:srgbClr val="695D46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Sr. No.</a:t>
                      </a:r>
                      <a:endParaRPr lang="en-US" sz="1100"/>
                    </a:p>
                  </a:txBody>
                  <a:tcPr marT="91440" marB="91440" anchor="ctr">
                    <a:lnL w="5760" cap="flat" cmpd="sng" algn="ctr">
                      <a:solidFill>
                        <a:srgbClr val="A1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A1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A1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A1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 spc="-1">
                          <a:solidFill>
                            <a:srgbClr val="695D46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Paper/Article referred</a:t>
                      </a:r>
                      <a:endParaRPr lang="en-US" sz="1100"/>
                    </a:p>
                  </a:txBody>
                  <a:tcPr marT="91440" marB="91440" anchor="ctr">
                    <a:lnL w="5760" cap="flat" cmpd="sng" algn="ctr">
                      <a:solidFill>
                        <a:srgbClr val="A1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A1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A1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A1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 spc="-1">
                          <a:solidFill>
                            <a:srgbClr val="695D46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Source</a:t>
                      </a:r>
                      <a:endParaRPr lang="en-US" sz="1100"/>
                    </a:p>
                  </a:txBody>
                  <a:tcPr marT="91440" marB="91440" anchor="ctr">
                    <a:lnL w="5760" cap="flat" cmpd="sng" algn="ctr">
                      <a:solidFill>
                        <a:srgbClr val="A1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A1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A1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A1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 spc="-1">
                          <a:solidFill>
                            <a:srgbClr val="695D46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Remarks</a:t>
                      </a:r>
                      <a:endParaRPr lang="en-US" sz="1100"/>
                    </a:p>
                  </a:txBody>
                  <a:tcPr marT="91440" marB="91440" anchor="ctr">
                    <a:lnL w="5760" cap="flat" cmpd="sng" algn="ctr">
                      <a:solidFill>
                        <a:srgbClr val="A1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A1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A1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A1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92276">
                <a:tc>
                  <a:txBody>
                    <a:bodyPr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 spc="-1">
                          <a:solidFill>
                            <a:srgbClr val="695D46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lang="en-US" sz="1100"/>
                    </a:p>
                  </a:txBody>
                  <a:tcPr marT="91440" marB="91440" anchor="ctr">
                    <a:lnL w="5760" cap="flat" cmpd="sng" algn="ctr">
                      <a:solidFill>
                        <a:srgbClr val="A1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A1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A1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A1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3359"/>
                        </a:lnSpc>
                        <a:defRPr/>
                      </a:pPr>
                      <a:r>
                        <a:rPr lang="en-US" sz="2799" spc="-1">
                          <a:solidFill>
                            <a:srgbClr val="695D46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Development of Programmable Relay Switch Using Microcontroller</a:t>
                      </a:r>
                      <a:endParaRPr lang="en-US" sz="1100"/>
                    </a:p>
                  </a:txBody>
                  <a:tcPr marT="91440" marB="91440" anchor="ctr">
                    <a:lnL w="5760" cap="flat" cmpd="sng" algn="ctr">
                      <a:solidFill>
                        <a:srgbClr val="A1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A1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A1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A1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695D46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2018, P. Zabala, American Journal of Remote Sensing</a:t>
                      </a:r>
                      <a:endParaRPr lang="en-US" sz="1100"/>
                    </a:p>
                    <a:p>
                      <a:pPr algn="just">
                        <a:lnSpc>
                          <a:spcPts val="3359"/>
                        </a:lnSpc>
                      </a:pPr>
                      <a:endParaRPr lang="en-US" sz="1100"/>
                    </a:p>
                  </a:txBody>
                  <a:tcPr marT="91440" marB="91440" anchor="ctr">
                    <a:lnL w="5760" cap="flat" cmpd="sng" algn="ctr">
                      <a:solidFill>
                        <a:srgbClr val="A1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A1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A1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A1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695D46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Demonstrates microcontroller-based relay control, applicable for automated router restart.</a:t>
                      </a:r>
                      <a:endParaRPr lang="en-US" sz="1100"/>
                    </a:p>
                    <a:p>
                      <a:pPr algn="just">
                        <a:lnSpc>
                          <a:spcPts val="3359"/>
                        </a:lnSpc>
                      </a:pPr>
                      <a:endParaRPr lang="en-US" sz="1100"/>
                    </a:p>
                  </a:txBody>
                  <a:tcPr marT="91440" marB="91440" anchor="ctr">
                    <a:lnL w="5760" cap="flat" cmpd="sng" algn="ctr">
                      <a:solidFill>
                        <a:srgbClr val="A1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A1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A1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A1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72850">
                <a:tc>
                  <a:txBody>
                    <a:bodyPr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 spc="-1">
                          <a:solidFill>
                            <a:srgbClr val="695D46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lang="en-US" sz="1100"/>
                    </a:p>
                  </a:txBody>
                  <a:tcPr marT="91440" marB="91440" anchor="ctr">
                    <a:lnL w="5760" cap="flat" cmpd="sng" algn="ctr">
                      <a:solidFill>
                        <a:srgbClr val="A1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A1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A1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A1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695D46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Automatic Router and Server Reset Using ESP8266</a:t>
                      </a:r>
                      <a:endParaRPr lang="en-US" sz="1100"/>
                    </a:p>
                    <a:p>
                      <a:pPr algn="just">
                        <a:lnSpc>
                          <a:spcPts val="3359"/>
                        </a:lnSpc>
                      </a:pPr>
                      <a:endParaRPr lang="en-US" sz="1100"/>
                    </a:p>
                  </a:txBody>
                  <a:tcPr marT="91440" marB="91440" anchor="ctr">
                    <a:lnL w="5760" cap="flat" cmpd="sng" algn="ctr">
                      <a:solidFill>
                        <a:srgbClr val="A1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A1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A1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A1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695D46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2017, Gkal, Instructables</a:t>
                      </a:r>
                      <a:endParaRPr lang="en-US" sz="1100"/>
                    </a:p>
                    <a:p>
                      <a:pPr algn="just">
                        <a:lnSpc>
                          <a:spcPts val="3359"/>
                        </a:lnSpc>
                      </a:pPr>
                      <a:endParaRPr lang="en-US" sz="1100"/>
                    </a:p>
                  </a:txBody>
                  <a:tcPr marT="91440" marB="91440" anchor="ctr">
                    <a:lnL w="5760" cap="flat" cmpd="sng" algn="ctr">
                      <a:solidFill>
                        <a:srgbClr val="A1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A1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A1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A1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3359"/>
                        </a:lnSpc>
                        <a:defRPr/>
                      </a:pPr>
                      <a:r>
                        <a:rPr lang="en-US" sz="2799" spc="-1">
                          <a:solidFill>
                            <a:srgbClr val="695D46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IoT-based remote router restart concept - validates ESP-series feasibility.</a:t>
                      </a:r>
                      <a:endParaRPr lang="en-US" sz="1100"/>
                    </a:p>
                  </a:txBody>
                  <a:tcPr marT="91440" marB="91440" anchor="ctr">
                    <a:lnL w="5760" cap="flat" cmpd="sng" algn="ctr">
                      <a:solidFill>
                        <a:srgbClr val="A1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A1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A1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A1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11703">
                <a:tc>
                  <a:txBody>
                    <a:bodyPr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 spc="-2">
                          <a:solidFill>
                            <a:srgbClr val="695D46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lang="en-US" sz="1100"/>
                    </a:p>
                  </a:txBody>
                  <a:tcPr marT="91440" marB="91440" anchor="ctr">
                    <a:lnL w="5760" cap="flat" cmpd="sng" algn="ctr">
                      <a:solidFill>
                        <a:srgbClr val="A1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A1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A1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A1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695D46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Reset your router the modern way</a:t>
                      </a:r>
                      <a:endParaRPr lang="en-US" sz="1100"/>
                    </a:p>
                  </a:txBody>
                  <a:tcPr marT="91440" marB="91440" anchor="ctr">
                    <a:lnL w="5760" cap="flat" cmpd="sng" algn="ctr">
                      <a:solidFill>
                        <a:srgbClr val="A1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A1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A1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A1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3359"/>
                        </a:lnSpc>
                        <a:defRPr/>
                      </a:pPr>
                      <a:r>
                        <a:rPr lang="en-US" sz="2799" spc="-2">
                          <a:solidFill>
                            <a:srgbClr val="695D46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2019, Jenny List, Hackaday</a:t>
                      </a:r>
                      <a:endParaRPr lang="en-US" sz="1100"/>
                    </a:p>
                  </a:txBody>
                  <a:tcPr marT="91440" marB="91440" anchor="ctr">
                    <a:lnL w="5760" cap="flat" cmpd="sng" algn="ctr">
                      <a:solidFill>
                        <a:srgbClr val="A1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A1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A1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A1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3359"/>
                        </a:lnSpc>
                        <a:defRPr/>
                      </a:pPr>
                      <a:r>
                        <a:rPr lang="en-US" sz="2799" spc="-2">
                          <a:solidFill>
                            <a:srgbClr val="695D46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Pings an online service every few seconds, and turns the router off and on again via a power relay in the event that the ping attempt is repeatedly unsuccessful.</a:t>
                      </a:r>
                      <a:endParaRPr lang="en-US" sz="1100"/>
                    </a:p>
                  </a:txBody>
                  <a:tcPr marT="91440" marB="91440" anchor="ctr">
                    <a:lnL w="5760" cap="flat" cmpd="sng" algn="ctr">
                      <a:solidFill>
                        <a:srgbClr val="A1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A1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A1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A1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10090080"/>
            <a:ext cx="18288000" cy="197280"/>
            <a:chOff x="0" y="0"/>
            <a:chExt cx="24384000" cy="2630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263017"/>
            </a:xfrm>
            <a:custGeom>
              <a:avLst/>
              <a:gdLst/>
              <a:ahLst/>
              <a:cxnLst/>
              <a:rect l="l" t="t" r="r" b="b"/>
              <a:pathLst>
                <a:path w="24384000" h="263017">
                  <a:moveTo>
                    <a:pt x="0" y="0"/>
                  </a:moveTo>
                  <a:lnTo>
                    <a:pt x="24384000" y="0"/>
                  </a:lnTo>
                  <a:lnTo>
                    <a:pt x="24384000" y="263017"/>
                  </a:lnTo>
                  <a:lnTo>
                    <a:pt x="0" y="263017"/>
                  </a:lnTo>
                  <a:close/>
                </a:path>
              </a:pathLst>
            </a:custGeom>
            <a:solidFill>
              <a:srgbClr val="4DB6AC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713520" y="837765"/>
            <a:ext cx="16860960" cy="1238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40"/>
              </a:lnSpc>
            </a:pPr>
            <a:r>
              <a:rPr lang="en-US" sz="7200" b="1" spc="-2">
                <a:solidFill>
                  <a:srgbClr val="EF6C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Literature Survey</a:t>
            </a:r>
          </a:p>
        </p:txBody>
      </p: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713520" y="2474072"/>
          <a:ext cx="16860960" cy="4980602"/>
        </p:xfrm>
        <a:graphic>
          <a:graphicData uri="http://schemas.openxmlformats.org/drawingml/2006/table">
            <a:tbl>
              <a:tblPr/>
              <a:tblGrid>
                <a:gridCol w="14021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015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01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6721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420694">
                <a:tc>
                  <a:txBody>
                    <a:bodyPr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 spc="-1">
                          <a:solidFill>
                            <a:srgbClr val="695D46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Sr. No.</a:t>
                      </a:r>
                      <a:endParaRPr lang="en-US" sz="1100"/>
                    </a:p>
                  </a:txBody>
                  <a:tcPr marT="91440" marB="91440" anchor="ctr">
                    <a:lnL w="5760" cap="flat" cmpd="sng" algn="ctr">
                      <a:solidFill>
                        <a:srgbClr val="A1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A1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A1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A1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 spc="-1">
                          <a:solidFill>
                            <a:srgbClr val="695D46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Paper/Article referred</a:t>
                      </a:r>
                      <a:endParaRPr lang="en-US" sz="1100"/>
                    </a:p>
                  </a:txBody>
                  <a:tcPr marT="91440" marB="91440" anchor="ctr">
                    <a:lnL w="5760" cap="flat" cmpd="sng" algn="ctr">
                      <a:solidFill>
                        <a:srgbClr val="A1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A1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A1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A1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 spc="-1">
                          <a:solidFill>
                            <a:srgbClr val="695D46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Source</a:t>
                      </a:r>
                      <a:endParaRPr lang="en-US" sz="1100"/>
                    </a:p>
                  </a:txBody>
                  <a:tcPr marT="91440" marB="91440" anchor="ctr">
                    <a:lnL w="5760" cap="flat" cmpd="sng" algn="ctr">
                      <a:solidFill>
                        <a:srgbClr val="A1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A1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A1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A1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 spc="-1">
                          <a:solidFill>
                            <a:srgbClr val="695D46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Remarks</a:t>
                      </a:r>
                      <a:endParaRPr lang="en-US" sz="1100"/>
                    </a:p>
                  </a:txBody>
                  <a:tcPr marT="91440" marB="91440" anchor="ctr">
                    <a:lnL w="5760" cap="flat" cmpd="sng" algn="ctr">
                      <a:solidFill>
                        <a:srgbClr val="A1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A1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A1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A1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86463">
                <a:tc>
                  <a:txBody>
                    <a:bodyPr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 spc="-1">
                          <a:solidFill>
                            <a:srgbClr val="695D46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lang="en-US" sz="1100"/>
                    </a:p>
                  </a:txBody>
                  <a:tcPr marT="91440" marB="91440" anchor="ctr">
                    <a:lnL w="5760" cap="flat" cmpd="sng" algn="ctr">
                      <a:solidFill>
                        <a:srgbClr val="A1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A1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A1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A1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3359"/>
                        </a:lnSpc>
                        <a:defRPr/>
                      </a:pPr>
                      <a:r>
                        <a:rPr lang="en-US" sz="2799" spc="-1">
                          <a:solidFill>
                            <a:srgbClr val="695D46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ESP-32 Wi-Fi Network Smart Monitoring System</a:t>
                      </a:r>
                      <a:endParaRPr lang="en-US" sz="1100"/>
                    </a:p>
                  </a:txBody>
                  <a:tcPr marT="91440" marB="91440" anchor="ctr">
                    <a:lnL w="5760" cap="flat" cmpd="sng" algn="ctr">
                      <a:solidFill>
                        <a:srgbClr val="A1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A1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A1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A1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695D46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2023, Aysar Thamer Naser Tuaimah, SRJECS journal</a:t>
                      </a:r>
                      <a:endParaRPr lang="en-US" sz="1100"/>
                    </a:p>
                  </a:txBody>
                  <a:tcPr marT="91440" marB="91440" anchor="ctr">
                    <a:lnL w="5760" cap="flat" cmpd="sng" algn="ctr">
                      <a:solidFill>
                        <a:srgbClr val="A1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A1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A1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A1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695D46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Validates ESP-32 based failure detection</a:t>
                      </a:r>
                      <a:endParaRPr lang="en-US" sz="1100"/>
                    </a:p>
                  </a:txBody>
                  <a:tcPr marT="91440" marB="91440" anchor="ctr">
                    <a:lnL w="5760" cap="flat" cmpd="sng" algn="ctr">
                      <a:solidFill>
                        <a:srgbClr val="A1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A1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A1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A1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73445">
                <a:tc>
                  <a:txBody>
                    <a:bodyPr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 spc="-1">
                          <a:solidFill>
                            <a:srgbClr val="695D46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lang="en-US" sz="1100"/>
                    </a:p>
                  </a:txBody>
                  <a:tcPr marT="91440" marB="91440" anchor="ctr">
                    <a:lnL w="5760" cap="flat" cmpd="sng" algn="ctr">
                      <a:solidFill>
                        <a:srgbClr val="A1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A1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A1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A1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695D46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 Generic IoT Quantum Safe - Watchdog Timer Protocol</a:t>
                      </a:r>
                      <a:endParaRPr lang="en-US" sz="1100"/>
                    </a:p>
                    <a:p>
                      <a:pPr algn="just">
                        <a:lnSpc>
                          <a:spcPts val="3359"/>
                        </a:lnSpc>
                      </a:pPr>
                      <a:endParaRPr lang="en-US" sz="1100"/>
                    </a:p>
                  </a:txBody>
                  <a:tcPr marT="91440" marB="91440" anchor="ctr">
                    <a:lnL w="5760" cap="flat" cmpd="sng" algn="ctr">
                      <a:solidFill>
                        <a:srgbClr val="A1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A1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A1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A1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695D46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2023, ACM Digital Library</a:t>
                      </a:r>
                      <a:endParaRPr lang="en-US" sz="1100"/>
                    </a:p>
                  </a:txBody>
                  <a:tcPr marT="91440" marB="91440" anchor="ctr">
                    <a:lnL w="5760" cap="flat" cmpd="sng" algn="ctr">
                      <a:solidFill>
                        <a:srgbClr val="A1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A1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A1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A1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3359"/>
                        </a:lnSpc>
                        <a:defRPr/>
                      </a:pPr>
                      <a:r>
                        <a:rPr lang="en-US" sz="2799" spc="-1">
                          <a:solidFill>
                            <a:srgbClr val="695D46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Provides restart logic for IoT based devices, backs self-recovery</a:t>
                      </a:r>
                      <a:endParaRPr lang="en-US" sz="1100"/>
                    </a:p>
                  </a:txBody>
                  <a:tcPr marT="91440" marB="91440" anchor="ctr">
                    <a:lnL w="5760" cap="flat" cmpd="sng" algn="ctr">
                      <a:solidFill>
                        <a:srgbClr val="A1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A1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A1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A1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10090080"/>
            <a:ext cx="18288000" cy="197280"/>
            <a:chOff x="0" y="0"/>
            <a:chExt cx="24384000" cy="2630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263017"/>
            </a:xfrm>
            <a:custGeom>
              <a:avLst/>
              <a:gdLst/>
              <a:ahLst/>
              <a:cxnLst/>
              <a:rect l="l" t="t" r="r" b="b"/>
              <a:pathLst>
                <a:path w="24384000" h="263017">
                  <a:moveTo>
                    <a:pt x="0" y="0"/>
                  </a:moveTo>
                  <a:lnTo>
                    <a:pt x="24384000" y="0"/>
                  </a:lnTo>
                  <a:lnTo>
                    <a:pt x="24384000" y="263017"/>
                  </a:lnTo>
                  <a:lnTo>
                    <a:pt x="0" y="263017"/>
                  </a:lnTo>
                  <a:close/>
                </a:path>
              </a:pathLst>
            </a:custGeom>
            <a:solidFill>
              <a:srgbClr val="4DB6AC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713520" y="837765"/>
            <a:ext cx="16860960" cy="1238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40"/>
              </a:lnSpc>
            </a:pPr>
            <a:r>
              <a:rPr lang="en-US" sz="7200" b="1" spc="-2">
                <a:solidFill>
                  <a:srgbClr val="EF6C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Impact of project on Societal issues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795923" y="2173001"/>
            <a:ext cx="14312118" cy="62347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01465" lvl="1" indent="-400732" algn="just">
              <a:lnSpc>
                <a:spcPts val="4454"/>
              </a:lnSpc>
              <a:buFont typeface="Arial"/>
              <a:buChar char="•"/>
            </a:pPr>
            <a:r>
              <a:rPr lang="en-US" sz="3712" spc="-1">
                <a:solidFill>
                  <a:srgbClr val="54545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Reduced Downtime: Ensures uninterrupted internet connectivity for work-from-home employees, offices, and remote learning setups.</a:t>
            </a:r>
          </a:p>
          <a:p>
            <a:pPr algn="just">
              <a:lnSpc>
                <a:spcPts val="4454"/>
              </a:lnSpc>
            </a:pPr>
            <a:endParaRPr lang="en-US" sz="3712" spc="-1">
              <a:solidFill>
                <a:srgbClr val="54545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801465" lvl="1" indent="-400732" algn="just">
              <a:lnSpc>
                <a:spcPts val="4454"/>
              </a:lnSpc>
              <a:buFont typeface="Arial"/>
              <a:buChar char="•"/>
            </a:pPr>
            <a:r>
              <a:rPr lang="en-US" sz="3712" spc="-1">
                <a:solidFill>
                  <a:srgbClr val="54545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Increased Productivity: Minimizes time wasted in manually troubleshooting routers.</a:t>
            </a:r>
          </a:p>
          <a:p>
            <a:pPr algn="just">
              <a:lnSpc>
                <a:spcPts val="4454"/>
              </a:lnSpc>
            </a:pPr>
            <a:endParaRPr lang="en-US" sz="3712" spc="-1">
              <a:solidFill>
                <a:srgbClr val="54545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801465" lvl="1" indent="-400732" algn="just">
              <a:lnSpc>
                <a:spcPts val="4454"/>
              </a:lnSpc>
              <a:buFont typeface="Arial"/>
              <a:buChar char="•"/>
            </a:pPr>
            <a:r>
              <a:rPr lang="en-US" sz="3712" spc="-1">
                <a:solidFill>
                  <a:srgbClr val="54545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Better Accessibility: Useful for people in rural/remote areas where technician access is limited.</a:t>
            </a:r>
          </a:p>
          <a:p>
            <a:pPr algn="just">
              <a:lnSpc>
                <a:spcPts val="4454"/>
              </a:lnSpc>
            </a:pPr>
            <a:endParaRPr lang="en-US" sz="3712" spc="-1">
              <a:solidFill>
                <a:srgbClr val="54545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801465" lvl="1" indent="-400732" algn="just">
              <a:lnSpc>
                <a:spcPts val="4454"/>
              </a:lnSpc>
              <a:buFont typeface="Arial"/>
              <a:buChar char="•"/>
            </a:pPr>
            <a:r>
              <a:rPr lang="en-US" sz="3712" spc="-1">
                <a:solidFill>
                  <a:srgbClr val="54545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Emergency Applications: Keeps surveillance, healthcare IoT, and disaster management systems online without human intervention.</a:t>
            </a:r>
          </a:p>
        </p:txBody>
      </p:sp>
    </p:spTree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10090080"/>
            <a:ext cx="18288000" cy="197280"/>
            <a:chOff x="0" y="0"/>
            <a:chExt cx="24384000" cy="2630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263017"/>
            </a:xfrm>
            <a:custGeom>
              <a:avLst/>
              <a:gdLst/>
              <a:ahLst/>
              <a:cxnLst/>
              <a:rect l="l" t="t" r="r" b="b"/>
              <a:pathLst>
                <a:path w="24384000" h="263017">
                  <a:moveTo>
                    <a:pt x="0" y="0"/>
                  </a:moveTo>
                  <a:lnTo>
                    <a:pt x="24384000" y="0"/>
                  </a:lnTo>
                  <a:lnTo>
                    <a:pt x="24384000" y="263017"/>
                  </a:lnTo>
                  <a:lnTo>
                    <a:pt x="0" y="263017"/>
                  </a:lnTo>
                  <a:close/>
                </a:path>
              </a:pathLst>
            </a:custGeom>
            <a:solidFill>
              <a:srgbClr val="4DB6AC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713520" y="837765"/>
            <a:ext cx="16860960" cy="1238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40"/>
              </a:lnSpc>
            </a:pPr>
            <a:r>
              <a:rPr lang="en-US" sz="7200" b="1" spc="-2">
                <a:solidFill>
                  <a:srgbClr val="EF6C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Impact of project on Environmental issues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828800" y="2157600"/>
            <a:ext cx="14401800" cy="60346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66445" lvl="1" indent="-383222" algn="just">
              <a:lnSpc>
                <a:spcPts val="4259"/>
              </a:lnSpc>
              <a:buFont typeface="Arial"/>
              <a:buChar char="•"/>
            </a:pPr>
            <a:r>
              <a:rPr lang="en-US" sz="3549" spc="0" dirty="0">
                <a:solidFill>
                  <a:srgbClr val="54545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Energy Efficiency: Automatic restart avoids unnecessary router run-time during failure conditions, reducing wasted power consumption.</a:t>
            </a:r>
          </a:p>
          <a:p>
            <a:pPr algn="just">
              <a:lnSpc>
                <a:spcPts val="4259"/>
              </a:lnSpc>
            </a:pPr>
            <a:endParaRPr lang="en-US" sz="3549" spc="0" dirty="0">
              <a:solidFill>
                <a:srgbClr val="54545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66445" lvl="1" indent="-383222" algn="just">
              <a:lnSpc>
                <a:spcPts val="4259"/>
              </a:lnSpc>
              <a:buFont typeface="Arial"/>
              <a:buChar char="•"/>
            </a:pPr>
            <a:r>
              <a:rPr lang="en-US" sz="3549" spc="0" dirty="0">
                <a:solidFill>
                  <a:srgbClr val="54545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Device Longevity: Controlled restart sequence reduces stress on router hardware, extending life and preventing e-waste.</a:t>
            </a:r>
          </a:p>
          <a:p>
            <a:pPr algn="just">
              <a:lnSpc>
                <a:spcPts val="4259"/>
              </a:lnSpc>
            </a:pPr>
            <a:endParaRPr lang="en-US" sz="3549" spc="0" dirty="0">
              <a:solidFill>
                <a:srgbClr val="54545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66445" lvl="1" indent="-383222" algn="just">
              <a:lnSpc>
                <a:spcPts val="4259"/>
              </a:lnSpc>
              <a:buFont typeface="Arial"/>
              <a:buChar char="•"/>
            </a:pPr>
            <a:r>
              <a:rPr lang="en-US" sz="3549" spc="0" dirty="0">
                <a:solidFill>
                  <a:srgbClr val="54545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Low-Power Hardware: </a:t>
            </a:r>
            <a:r>
              <a:rPr lang="en-US" sz="3549" dirty="0">
                <a:solidFill>
                  <a:srgbClr val="54545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Raspberry Pi Pico</a:t>
            </a:r>
            <a:r>
              <a:rPr lang="en-US" sz="3549" spc="0" dirty="0">
                <a:solidFill>
                  <a:srgbClr val="54545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ESP32 are low-power microcontrollers, contributing to reduced overall energy footprint.</a:t>
            </a:r>
          </a:p>
          <a:p>
            <a:pPr algn="just">
              <a:lnSpc>
                <a:spcPts val="4259"/>
              </a:lnSpc>
            </a:pPr>
            <a:endParaRPr lang="en-US" sz="3549" spc="0" dirty="0">
              <a:solidFill>
                <a:srgbClr val="54545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66445" lvl="1" indent="-383222" algn="just">
              <a:lnSpc>
                <a:spcPts val="4259"/>
              </a:lnSpc>
              <a:buFont typeface="Arial"/>
              <a:buChar char="•"/>
            </a:pPr>
            <a:r>
              <a:rPr lang="en-US" sz="3549" spc="0" dirty="0">
                <a:solidFill>
                  <a:srgbClr val="54545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Scalable Design: Encourages repair/upgrade over replacement, indirectly reducing electronic waste generation.</a:t>
            </a:r>
          </a:p>
        </p:txBody>
      </p:sp>
    </p:spTree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10090080"/>
            <a:ext cx="18288000" cy="197280"/>
            <a:chOff x="0" y="0"/>
            <a:chExt cx="24384000" cy="2630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263017"/>
            </a:xfrm>
            <a:custGeom>
              <a:avLst/>
              <a:gdLst/>
              <a:ahLst/>
              <a:cxnLst/>
              <a:rect l="l" t="t" r="r" b="b"/>
              <a:pathLst>
                <a:path w="24384000" h="263017">
                  <a:moveTo>
                    <a:pt x="0" y="0"/>
                  </a:moveTo>
                  <a:lnTo>
                    <a:pt x="24384000" y="0"/>
                  </a:lnTo>
                  <a:lnTo>
                    <a:pt x="24384000" y="263017"/>
                  </a:lnTo>
                  <a:lnTo>
                    <a:pt x="0" y="263017"/>
                  </a:lnTo>
                  <a:close/>
                </a:path>
              </a:pathLst>
            </a:custGeom>
            <a:solidFill>
              <a:srgbClr val="4DB6AC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713520" y="837765"/>
            <a:ext cx="16860960" cy="1238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40"/>
              </a:lnSpc>
            </a:pPr>
            <a:r>
              <a:rPr lang="en-US" sz="7200" b="1" spc="-2">
                <a:solidFill>
                  <a:srgbClr val="EF6C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Financial aspects of the project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743201" y="2501353"/>
            <a:ext cx="12801599" cy="45140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99879" lvl="1" indent="-399940" algn="just">
              <a:lnSpc>
                <a:spcPts val="4445"/>
              </a:lnSpc>
              <a:buFont typeface="Arial"/>
              <a:buChar char="•"/>
            </a:pPr>
            <a:r>
              <a:rPr lang="en-US" sz="3704" spc="-1" dirty="0">
                <a:solidFill>
                  <a:srgbClr val="54545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Low-Cost Build: Approx. ₹1,500 for Prototype.</a:t>
            </a:r>
          </a:p>
          <a:p>
            <a:pPr algn="just">
              <a:lnSpc>
                <a:spcPts val="4445"/>
              </a:lnSpc>
            </a:pPr>
            <a:endParaRPr lang="en-US" sz="3704" spc="-1" dirty="0">
              <a:solidFill>
                <a:srgbClr val="54545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99879" lvl="1" indent="-399940" algn="just">
              <a:lnSpc>
                <a:spcPts val="4445"/>
              </a:lnSpc>
              <a:buFont typeface="Arial"/>
              <a:buChar char="•"/>
            </a:pPr>
            <a:r>
              <a:rPr lang="en-US" sz="3704" spc="-1" dirty="0">
                <a:solidFill>
                  <a:srgbClr val="54545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Saves Money: Reduces downtime losses and technician visits.</a:t>
            </a:r>
          </a:p>
          <a:p>
            <a:pPr algn="just">
              <a:lnSpc>
                <a:spcPts val="4445"/>
              </a:lnSpc>
            </a:pPr>
            <a:endParaRPr lang="en-US" sz="3704" spc="-1" dirty="0">
              <a:solidFill>
                <a:srgbClr val="54545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99879" lvl="1" indent="-399940" algn="just">
              <a:lnSpc>
                <a:spcPts val="4445"/>
              </a:lnSpc>
              <a:buFont typeface="Arial"/>
              <a:buChar char="•"/>
            </a:pPr>
            <a:r>
              <a:rPr lang="en-US" sz="3704" spc="-1" dirty="0">
                <a:solidFill>
                  <a:srgbClr val="54545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Fast ROI: Pays for itself in a few months for high-dependency networks.</a:t>
            </a:r>
          </a:p>
          <a:p>
            <a:pPr algn="just">
              <a:lnSpc>
                <a:spcPts val="4445"/>
              </a:lnSpc>
            </a:pPr>
            <a:endParaRPr lang="en-US" sz="3704" spc="-1" dirty="0">
              <a:solidFill>
                <a:srgbClr val="54545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99879" lvl="1" indent="-399940" algn="just">
              <a:lnSpc>
                <a:spcPts val="4445"/>
              </a:lnSpc>
              <a:buFont typeface="Arial"/>
              <a:buChar char="•"/>
            </a:pPr>
            <a:r>
              <a:rPr lang="en-US" sz="3704" spc="-1" dirty="0">
                <a:solidFill>
                  <a:srgbClr val="54545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Commercial Potential: Can be sold as a “Network Uptime Kit”.</a:t>
            </a:r>
          </a:p>
        </p:txBody>
      </p:sp>
    </p:spTree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10090080"/>
            <a:ext cx="18288000" cy="197280"/>
            <a:chOff x="0" y="0"/>
            <a:chExt cx="24384000" cy="2630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263017"/>
            </a:xfrm>
            <a:custGeom>
              <a:avLst/>
              <a:gdLst/>
              <a:ahLst/>
              <a:cxnLst/>
              <a:rect l="l" t="t" r="r" b="b"/>
              <a:pathLst>
                <a:path w="24384000" h="263017">
                  <a:moveTo>
                    <a:pt x="0" y="0"/>
                  </a:moveTo>
                  <a:lnTo>
                    <a:pt x="24384000" y="0"/>
                  </a:lnTo>
                  <a:lnTo>
                    <a:pt x="24384000" y="263017"/>
                  </a:lnTo>
                  <a:lnTo>
                    <a:pt x="0" y="263017"/>
                  </a:lnTo>
                  <a:close/>
                </a:path>
              </a:pathLst>
            </a:custGeom>
            <a:solidFill>
              <a:srgbClr val="4DB6AC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713520" y="837765"/>
            <a:ext cx="16860960" cy="1238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40"/>
              </a:lnSpc>
            </a:pPr>
            <a:r>
              <a:rPr lang="en-US" sz="7200" b="1" spc="-2">
                <a:solidFill>
                  <a:srgbClr val="EF6C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Components Used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2491770"/>
            <a:ext cx="16230600" cy="74618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152690" lvl="1" indent="-576345" algn="l">
              <a:lnSpc>
                <a:spcPts val="4925"/>
              </a:lnSpc>
              <a:buFont typeface="Arial"/>
              <a:buChar char="•"/>
            </a:pPr>
            <a:r>
              <a:rPr lang="en-US" sz="3569" dirty="0">
                <a:solidFill>
                  <a:srgbClr val="695D4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ESP32: Monitors internet connectivity (ping/DNS check).</a:t>
            </a:r>
          </a:p>
          <a:p>
            <a:pPr algn="l">
              <a:lnSpc>
                <a:spcPts val="4925"/>
              </a:lnSpc>
            </a:pPr>
            <a:endParaRPr lang="en-US" sz="3569" dirty="0">
              <a:solidFill>
                <a:srgbClr val="695D4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152690" lvl="1" indent="-576345" algn="l">
              <a:lnSpc>
                <a:spcPts val="4925"/>
              </a:lnSpc>
              <a:buFont typeface="Arial"/>
              <a:buChar char="•"/>
            </a:pPr>
            <a:r>
              <a:rPr lang="en-US" sz="3569" dirty="0">
                <a:solidFill>
                  <a:srgbClr val="695D4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Raspberry Pi Pico: Receives failure alerts via UART and controls relay.</a:t>
            </a:r>
          </a:p>
          <a:p>
            <a:pPr algn="l">
              <a:lnSpc>
                <a:spcPts val="4925"/>
              </a:lnSpc>
            </a:pPr>
            <a:endParaRPr lang="en-US" sz="3569" dirty="0">
              <a:solidFill>
                <a:srgbClr val="695D4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152690" lvl="1" indent="-576345" algn="l">
              <a:lnSpc>
                <a:spcPts val="4925"/>
              </a:lnSpc>
              <a:buFont typeface="Arial"/>
              <a:buChar char="•"/>
            </a:pPr>
            <a:r>
              <a:rPr lang="en-US" sz="3569" dirty="0">
                <a:solidFill>
                  <a:srgbClr val="695D4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Relay Module (5V Optocoupler): Power cycles the router.</a:t>
            </a:r>
          </a:p>
          <a:p>
            <a:pPr algn="l">
              <a:lnSpc>
                <a:spcPts val="4925"/>
              </a:lnSpc>
            </a:pPr>
            <a:endParaRPr lang="en-US" sz="3569" dirty="0">
              <a:solidFill>
                <a:srgbClr val="695D4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152690" lvl="1" indent="-576345" algn="l">
              <a:lnSpc>
                <a:spcPts val="4925"/>
              </a:lnSpc>
              <a:buFont typeface="Arial"/>
              <a:buChar char="•"/>
            </a:pPr>
            <a:r>
              <a:rPr lang="en-US" sz="3569" dirty="0">
                <a:solidFill>
                  <a:srgbClr val="695D4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LM2596 Buck: Converts High Adapter voltage into 5V for the microcontrollers.</a:t>
            </a:r>
          </a:p>
          <a:p>
            <a:pPr marL="576345" lvl="1" algn="l">
              <a:lnSpc>
                <a:spcPts val="4925"/>
              </a:lnSpc>
            </a:pPr>
            <a:endParaRPr lang="en-US" sz="3569" dirty="0">
              <a:solidFill>
                <a:srgbClr val="695D4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152690" lvl="1" indent="-576345" algn="l">
              <a:lnSpc>
                <a:spcPts val="4925"/>
              </a:lnSpc>
              <a:buFont typeface="Arial"/>
              <a:buChar char="•"/>
            </a:pPr>
            <a:r>
              <a:rPr lang="en-US" sz="3569" dirty="0">
                <a:solidFill>
                  <a:srgbClr val="695D4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LEDs: Used to show status of relay (ON/OFF/FAULTY)</a:t>
            </a:r>
          </a:p>
          <a:p>
            <a:pPr algn="l">
              <a:lnSpc>
                <a:spcPts val="4925"/>
              </a:lnSpc>
            </a:pPr>
            <a:endParaRPr lang="en-US" sz="3569" dirty="0">
              <a:solidFill>
                <a:srgbClr val="695D4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576345" lvl="1" algn="l">
              <a:lnSpc>
                <a:spcPts val="4925"/>
              </a:lnSpc>
            </a:pPr>
            <a:endParaRPr lang="en-US" sz="3569" dirty="0">
              <a:solidFill>
                <a:srgbClr val="695D4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4649"/>
              </a:lnSpc>
            </a:pPr>
            <a:endParaRPr lang="en-US" sz="3569" dirty="0">
              <a:solidFill>
                <a:srgbClr val="695D4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10090080"/>
            <a:ext cx="18288000" cy="197280"/>
            <a:chOff x="0" y="0"/>
            <a:chExt cx="24384000" cy="2630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263017"/>
            </a:xfrm>
            <a:custGeom>
              <a:avLst/>
              <a:gdLst/>
              <a:ahLst/>
              <a:cxnLst/>
              <a:rect l="l" t="t" r="r" b="b"/>
              <a:pathLst>
                <a:path w="24384000" h="263017">
                  <a:moveTo>
                    <a:pt x="0" y="0"/>
                  </a:moveTo>
                  <a:lnTo>
                    <a:pt x="24384000" y="0"/>
                  </a:lnTo>
                  <a:lnTo>
                    <a:pt x="24384000" y="263017"/>
                  </a:lnTo>
                  <a:lnTo>
                    <a:pt x="0" y="263017"/>
                  </a:lnTo>
                  <a:close/>
                </a:path>
              </a:pathLst>
            </a:custGeom>
            <a:solidFill>
              <a:srgbClr val="4DB6AC"/>
            </a:solidFill>
          </p:spPr>
        </p:sp>
      </p:grpSp>
      <p:sp>
        <p:nvSpPr>
          <p:cNvPr id="5" name="TextBox 5"/>
          <p:cNvSpPr txBox="1"/>
          <p:nvPr/>
        </p:nvSpPr>
        <p:spPr>
          <a:xfrm>
            <a:off x="713520" y="837765"/>
            <a:ext cx="16860960" cy="1238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40"/>
              </a:lnSpc>
            </a:pPr>
            <a:r>
              <a:rPr lang="en-US" sz="7200" b="1" spc="-2">
                <a:solidFill>
                  <a:srgbClr val="EF6C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Workflow of the Project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6012202-D56A-2F65-9A33-C2F9CCD5AF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2800" y="1866900"/>
            <a:ext cx="11430000" cy="7162799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10090080"/>
            <a:ext cx="18288000" cy="197280"/>
            <a:chOff x="0" y="0"/>
            <a:chExt cx="24384000" cy="2630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263017"/>
            </a:xfrm>
            <a:custGeom>
              <a:avLst/>
              <a:gdLst/>
              <a:ahLst/>
              <a:cxnLst/>
              <a:rect l="l" t="t" r="r" b="b"/>
              <a:pathLst>
                <a:path w="24384000" h="263017">
                  <a:moveTo>
                    <a:pt x="0" y="0"/>
                  </a:moveTo>
                  <a:lnTo>
                    <a:pt x="24384000" y="0"/>
                  </a:lnTo>
                  <a:lnTo>
                    <a:pt x="24384000" y="263017"/>
                  </a:lnTo>
                  <a:lnTo>
                    <a:pt x="0" y="263017"/>
                  </a:lnTo>
                  <a:close/>
                </a:path>
              </a:pathLst>
            </a:custGeom>
            <a:solidFill>
              <a:srgbClr val="4DB6AC"/>
            </a:solidFill>
          </p:spPr>
        </p:sp>
      </p:grpSp>
      <p:sp>
        <p:nvSpPr>
          <p:cNvPr id="5" name="TextBox 5"/>
          <p:cNvSpPr txBox="1"/>
          <p:nvPr/>
        </p:nvSpPr>
        <p:spPr>
          <a:xfrm>
            <a:off x="713520" y="837765"/>
            <a:ext cx="16860960" cy="1102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40"/>
              </a:lnSpc>
            </a:pPr>
            <a:r>
              <a:rPr lang="en-US" sz="7200" b="1" spc="-2" dirty="0">
                <a:solidFill>
                  <a:srgbClr val="EF6C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Circuit Diagram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DED42F-1903-CB3C-54B5-E7696D8CB6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7800" y="2313426"/>
            <a:ext cx="15468600" cy="7402074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10090080"/>
            <a:ext cx="18288000" cy="197280"/>
            <a:chOff x="0" y="0"/>
            <a:chExt cx="24384000" cy="2630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263017"/>
            </a:xfrm>
            <a:custGeom>
              <a:avLst/>
              <a:gdLst/>
              <a:ahLst/>
              <a:cxnLst/>
              <a:rect l="l" t="t" r="r" b="b"/>
              <a:pathLst>
                <a:path w="24384000" h="263017">
                  <a:moveTo>
                    <a:pt x="0" y="0"/>
                  </a:moveTo>
                  <a:lnTo>
                    <a:pt x="24384000" y="0"/>
                  </a:lnTo>
                  <a:lnTo>
                    <a:pt x="24384000" y="263017"/>
                  </a:lnTo>
                  <a:lnTo>
                    <a:pt x="0" y="263017"/>
                  </a:lnTo>
                  <a:close/>
                </a:path>
              </a:pathLst>
            </a:custGeom>
            <a:solidFill>
              <a:srgbClr val="4DB6AC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713520" y="837765"/>
            <a:ext cx="16860960" cy="1238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40"/>
              </a:lnSpc>
            </a:pPr>
            <a:r>
              <a:rPr lang="en-US" sz="7200" b="1" spc="-2" dirty="0">
                <a:solidFill>
                  <a:srgbClr val="EF6C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Performance Analysis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13520" y="2491770"/>
            <a:ext cx="16860960" cy="5890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67"/>
              </a:lnSpc>
            </a:pPr>
            <a:r>
              <a:rPr lang="en-US" sz="3600" spc="-2" dirty="0">
                <a:solidFill>
                  <a:srgbClr val="695D4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Please refer to the video.</a:t>
            </a:r>
          </a:p>
        </p:txBody>
      </p:sp>
    </p:spTree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10090080"/>
            <a:ext cx="18288000" cy="197280"/>
            <a:chOff x="0" y="0"/>
            <a:chExt cx="24384000" cy="2630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263017"/>
            </a:xfrm>
            <a:custGeom>
              <a:avLst/>
              <a:gdLst/>
              <a:ahLst/>
              <a:cxnLst/>
              <a:rect l="l" t="t" r="r" b="b"/>
              <a:pathLst>
                <a:path w="24384000" h="263017">
                  <a:moveTo>
                    <a:pt x="0" y="0"/>
                  </a:moveTo>
                  <a:lnTo>
                    <a:pt x="24384000" y="0"/>
                  </a:lnTo>
                  <a:lnTo>
                    <a:pt x="24384000" y="263017"/>
                  </a:lnTo>
                  <a:lnTo>
                    <a:pt x="0" y="263017"/>
                  </a:lnTo>
                  <a:close/>
                </a:path>
              </a:pathLst>
            </a:custGeom>
            <a:solidFill>
              <a:srgbClr val="4DB6AC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713520" y="837765"/>
            <a:ext cx="16860960" cy="1238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40"/>
              </a:lnSpc>
            </a:pPr>
            <a:r>
              <a:rPr lang="en-US" sz="7200" b="1" spc="-2">
                <a:solidFill>
                  <a:srgbClr val="EF6C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Conclusion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56322" y="2079930"/>
            <a:ext cx="17218158" cy="77952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73"/>
              </a:lnSpc>
            </a:pPr>
            <a:r>
              <a:rPr lang="en-US" sz="3676" dirty="0">
                <a:solidFill>
                  <a:srgbClr val="695D4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Conclusion:</a:t>
            </a:r>
          </a:p>
          <a:p>
            <a:pPr lvl="1" algn="just">
              <a:lnSpc>
                <a:spcPts val="5073"/>
              </a:lnSpc>
            </a:pPr>
            <a:r>
              <a:rPr lang="en-US" sz="3676" dirty="0">
                <a:solidFill>
                  <a:srgbClr val="695D4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The proposed system is a reliable, low-cost solution for autonomous network</a:t>
            </a:r>
          </a:p>
          <a:p>
            <a:pPr lvl="1" algn="just">
              <a:lnSpc>
                <a:spcPts val="5073"/>
              </a:lnSpc>
            </a:pPr>
            <a:r>
              <a:rPr lang="en-US" sz="3676" dirty="0">
                <a:solidFill>
                  <a:srgbClr val="695D4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recovery. It leverages </a:t>
            </a:r>
            <a:r>
              <a:rPr lang="en-US" sz="3676" dirty="0" err="1">
                <a:solidFill>
                  <a:srgbClr val="695D4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Rpi</a:t>
            </a:r>
            <a:r>
              <a:rPr lang="en-US" sz="3676" dirty="0">
                <a:solidFill>
                  <a:srgbClr val="695D4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Pico and ESP32 for efficient fault detection and recovery,</a:t>
            </a:r>
          </a:p>
          <a:p>
            <a:pPr lvl="1" algn="just">
              <a:lnSpc>
                <a:spcPts val="5073"/>
              </a:lnSpc>
            </a:pPr>
            <a:r>
              <a:rPr lang="en-US" sz="3676" dirty="0">
                <a:solidFill>
                  <a:srgbClr val="695D4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reducing downtime without human intervention.</a:t>
            </a:r>
          </a:p>
          <a:p>
            <a:pPr algn="l">
              <a:lnSpc>
                <a:spcPts val="5073"/>
              </a:lnSpc>
            </a:pPr>
            <a:endParaRPr lang="en-US" sz="3676" dirty="0">
              <a:solidFill>
                <a:srgbClr val="695D4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5073"/>
              </a:lnSpc>
            </a:pPr>
            <a:r>
              <a:rPr lang="en-US" sz="3676" dirty="0">
                <a:solidFill>
                  <a:srgbClr val="695D4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Future Scope:</a:t>
            </a:r>
          </a:p>
          <a:p>
            <a:pPr marL="1250906" lvl="2" indent="-396853">
              <a:lnSpc>
                <a:spcPts val="5073"/>
              </a:lnSpc>
              <a:buFont typeface="Arial"/>
              <a:buChar char="•"/>
            </a:pPr>
            <a:r>
              <a:rPr lang="en-US" sz="3676" dirty="0">
                <a:solidFill>
                  <a:srgbClr val="695D4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Multi-router support.</a:t>
            </a:r>
          </a:p>
          <a:p>
            <a:pPr marL="1250906" lvl="2" indent="-396853">
              <a:lnSpc>
                <a:spcPts val="5073"/>
              </a:lnSpc>
              <a:buFont typeface="Arial"/>
              <a:buChar char="•"/>
            </a:pPr>
            <a:r>
              <a:rPr lang="en-US" sz="3676" dirty="0">
                <a:solidFill>
                  <a:srgbClr val="695D4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Web-based monitoring dashboard.</a:t>
            </a:r>
          </a:p>
          <a:p>
            <a:pPr marL="1250906" lvl="2" indent="-396853">
              <a:lnSpc>
                <a:spcPts val="5073"/>
              </a:lnSpc>
              <a:buFont typeface="Arial"/>
              <a:buChar char="•"/>
            </a:pPr>
            <a:r>
              <a:rPr lang="en-US" sz="3676" dirty="0">
                <a:solidFill>
                  <a:srgbClr val="695D4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Surge protection.</a:t>
            </a:r>
          </a:p>
          <a:p>
            <a:pPr marL="1250906" lvl="2" indent="-396853">
              <a:lnSpc>
                <a:spcPts val="5073"/>
              </a:lnSpc>
              <a:buFont typeface="Arial"/>
              <a:buChar char="•"/>
            </a:pPr>
            <a:r>
              <a:rPr lang="en-US" sz="3676" dirty="0">
                <a:solidFill>
                  <a:srgbClr val="695D4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Fault logging and analysis.</a:t>
            </a:r>
          </a:p>
          <a:p>
            <a:pPr marL="1250906" lvl="2" indent="-396853">
              <a:lnSpc>
                <a:spcPts val="5073"/>
              </a:lnSpc>
              <a:buFont typeface="Arial"/>
              <a:buChar char="•"/>
            </a:pPr>
            <a:r>
              <a:rPr lang="en-US" sz="3676" dirty="0">
                <a:solidFill>
                  <a:srgbClr val="695D4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SMS/Email alerts.</a:t>
            </a:r>
          </a:p>
          <a:p>
            <a:pPr algn="l">
              <a:lnSpc>
                <a:spcPts val="5073"/>
              </a:lnSpc>
            </a:pPr>
            <a:endParaRPr lang="en-US" sz="3676" dirty="0">
              <a:solidFill>
                <a:srgbClr val="695D4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10090080"/>
            <a:ext cx="18288000" cy="197280"/>
            <a:chOff x="0" y="0"/>
            <a:chExt cx="24384000" cy="2630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263017"/>
            </a:xfrm>
            <a:custGeom>
              <a:avLst/>
              <a:gdLst/>
              <a:ahLst/>
              <a:cxnLst/>
              <a:rect l="l" t="t" r="r" b="b"/>
              <a:pathLst>
                <a:path w="24384000" h="263017">
                  <a:moveTo>
                    <a:pt x="0" y="0"/>
                  </a:moveTo>
                  <a:lnTo>
                    <a:pt x="24384000" y="0"/>
                  </a:lnTo>
                  <a:lnTo>
                    <a:pt x="24384000" y="263017"/>
                  </a:lnTo>
                  <a:lnTo>
                    <a:pt x="0" y="263017"/>
                  </a:lnTo>
                  <a:close/>
                </a:path>
              </a:pathLst>
            </a:custGeom>
            <a:solidFill>
              <a:srgbClr val="4DB6AC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713520" y="338137"/>
            <a:ext cx="16860960" cy="1238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40"/>
              </a:lnSpc>
            </a:pPr>
            <a:r>
              <a:rPr lang="en-US" sz="7200" b="1" spc="-2">
                <a:solidFill>
                  <a:srgbClr val="EF6C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References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71110" y="1750932"/>
            <a:ext cx="16545780" cy="10731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72"/>
              </a:lnSpc>
            </a:pPr>
            <a:r>
              <a:rPr lang="en-US" sz="3820" dirty="0">
                <a:solidFill>
                  <a:srgbClr val="695D4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1) P. Zabala et al., “Development of Programmable Relay Switch Using Microcontroller,” Asian Journal of Research in Science, 2018.</a:t>
            </a:r>
          </a:p>
          <a:p>
            <a:pPr algn="l">
              <a:lnSpc>
                <a:spcPts val="5272"/>
              </a:lnSpc>
            </a:pPr>
            <a:endParaRPr lang="en-US" sz="3820" dirty="0">
              <a:solidFill>
                <a:srgbClr val="695D4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5272"/>
              </a:lnSpc>
            </a:pPr>
            <a:r>
              <a:rPr lang="en-US" sz="3820" dirty="0">
                <a:solidFill>
                  <a:srgbClr val="695D4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2) “Automatic Router and Server Reset Using ESP8266,” </a:t>
            </a:r>
            <a:r>
              <a:rPr lang="en-US" sz="3820" dirty="0" err="1">
                <a:solidFill>
                  <a:srgbClr val="695D4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Instructables</a:t>
            </a:r>
            <a:r>
              <a:rPr lang="en-US" sz="3820" dirty="0">
                <a:solidFill>
                  <a:srgbClr val="695D4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2017.</a:t>
            </a:r>
          </a:p>
          <a:p>
            <a:pPr algn="l">
              <a:lnSpc>
                <a:spcPts val="5272"/>
              </a:lnSpc>
            </a:pPr>
            <a:endParaRPr lang="en-US" sz="3820" dirty="0">
              <a:solidFill>
                <a:srgbClr val="695D4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5272"/>
              </a:lnSpc>
            </a:pPr>
            <a:r>
              <a:rPr lang="en-US" sz="3820" dirty="0">
                <a:solidFill>
                  <a:srgbClr val="695D4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3) “Reset your router the modern way” Jenny List, </a:t>
            </a:r>
            <a:r>
              <a:rPr lang="en-US" sz="3820" dirty="0" err="1">
                <a:solidFill>
                  <a:srgbClr val="695D4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Hackaday</a:t>
            </a:r>
            <a:r>
              <a:rPr lang="en-US" sz="3820" dirty="0">
                <a:solidFill>
                  <a:srgbClr val="695D4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2019.</a:t>
            </a:r>
          </a:p>
          <a:p>
            <a:pPr algn="l">
              <a:lnSpc>
                <a:spcPts val="5272"/>
              </a:lnSpc>
            </a:pPr>
            <a:endParaRPr lang="en-US" sz="3820" dirty="0">
              <a:solidFill>
                <a:srgbClr val="695D4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5272"/>
              </a:lnSpc>
            </a:pPr>
            <a:r>
              <a:rPr lang="en-US" sz="3820" spc="-3" dirty="0">
                <a:solidFill>
                  <a:srgbClr val="695D4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4) “ESP-32 Wi-Fi Network Smart Monitoring System”  Aysar Thamer Naser </a:t>
            </a:r>
            <a:r>
              <a:rPr lang="en-US" sz="3820" spc="-3" dirty="0" err="1">
                <a:solidFill>
                  <a:srgbClr val="695D4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Tuaimah</a:t>
            </a:r>
            <a:r>
              <a:rPr lang="en-US" sz="3820" spc="-3" dirty="0">
                <a:solidFill>
                  <a:srgbClr val="695D4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SRJECS journal, 2023</a:t>
            </a:r>
          </a:p>
          <a:p>
            <a:pPr algn="l">
              <a:lnSpc>
                <a:spcPts val="5272"/>
              </a:lnSpc>
            </a:pPr>
            <a:endParaRPr lang="en-US" sz="3820" spc="-3" dirty="0">
              <a:solidFill>
                <a:srgbClr val="695D4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5272"/>
              </a:lnSpc>
            </a:pPr>
            <a:r>
              <a:rPr lang="en-US" sz="3820" spc="-3" dirty="0">
                <a:solidFill>
                  <a:srgbClr val="695D4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5) “A Generic IoT Quantum Safe - Watchdog Timer Protocol” ACM Digital Library, 2023</a:t>
            </a:r>
          </a:p>
          <a:p>
            <a:pPr algn="l">
              <a:lnSpc>
                <a:spcPts val="5272"/>
              </a:lnSpc>
            </a:pPr>
            <a:endParaRPr lang="en-US" sz="3820" spc="-3" dirty="0">
              <a:solidFill>
                <a:srgbClr val="695D4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5272"/>
              </a:lnSpc>
            </a:pPr>
            <a:endParaRPr lang="en-US" sz="3820" spc="-3" dirty="0">
              <a:solidFill>
                <a:srgbClr val="695D4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5272"/>
              </a:lnSpc>
            </a:pPr>
            <a:endParaRPr lang="en-US" sz="3820" spc="-3" dirty="0">
              <a:solidFill>
                <a:srgbClr val="695D4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5272"/>
              </a:lnSpc>
            </a:pPr>
            <a:endParaRPr lang="en-US" sz="3820" spc="-3" dirty="0">
              <a:solidFill>
                <a:srgbClr val="695D4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313</TotalTime>
  <Words>710</Words>
  <Application>Microsoft Office PowerPoint</Application>
  <PresentationFormat>Custom</PresentationFormat>
  <Paragraphs>112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Times New Roman</vt:lpstr>
      <vt:lpstr>Times New Roman Bold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Group 7.ppt</dc:title>
  <dc:creator>Advait Jog</dc:creator>
  <cp:lastModifiedBy>Advait Jog</cp:lastModifiedBy>
  <cp:revision>5</cp:revision>
  <dcterms:created xsi:type="dcterms:W3CDTF">2006-08-16T00:00:00Z</dcterms:created>
  <dcterms:modified xsi:type="dcterms:W3CDTF">2025-11-09T15:37:39Z</dcterms:modified>
  <dc:identifier>DAGv3sy5l54</dc:identifier>
</cp:coreProperties>
</file>